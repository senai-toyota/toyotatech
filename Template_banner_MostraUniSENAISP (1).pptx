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>
          <p15:clr>
            <a:srgbClr val="A4A3A4"/>
          </p15:clr>
        </p15:guide>
        <p15:guide id="2" pos="2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60022"/>
    <a:srgbClr val="C5002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4660"/>
  </p:normalViewPr>
  <p:slideViewPr>
    <p:cSldViewPr>
      <p:cViewPr>
        <p:scale>
          <a:sx n="33" d="100"/>
          <a:sy n="33" d="100"/>
        </p:scale>
        <p:origin x="1877" y="-4080"/>
      </p:cViewPr>
      <p:guideLst>
        <p:guide orient="horz" pos="2073"/>
        <p:guide pos="272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99332FC7-41AE-472C-A725-F76FE0675BE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3BD2A687-A025-4650-89EF-53B8E7F96DA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08025" indent="-271463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090613" indent="-217488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527175" indent="-217488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1962150" indent="-217488" algn="l" defTabSz="42862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1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181758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6pPr>
    <a:lvl7pPr marL="2618110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7pPr>
    <a:lvl8pPr marL="3054462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8pPr>
    <a:lvl9pPr marL="3490813" algn="l" defTabSz="872703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81618E8D-BC66-49BF-A083-E637E9BB2A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95325"/>
            <a:ext cx="257175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21CD22D4-CA5C-47DC-ADE9-CFDC33D084F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428777">
              <a:defRPr/>
            </a:pPr>
            <a:endParaRPr lang="pt-BR" altLang="pt-BR" sz="1145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8A2B0-B0CA-4ABC-A955-99BF4EBA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76BF6-D437-4914-9EF0-499C855F4E47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B4A7B-2DBF-4132-8243-9872E387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F6B73-F3F6-4917-A334-78907288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9BD5C-225B-4EDE-94F3-455E3617A38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3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2AEE3-9902-4D92-B849-2CCFEC3A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F9041-7E3C-454B-A7BF-3652EE489C40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8CEE4-20D8-4634-BC69-BFCF849CC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8D320-E491-4892-895D-0AB72523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9E02B-2FD8-4DE0-94C6-B39170077BA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8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A6B80-0C6F-47C1-8A62-76714D76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5BFF2-9ADC-41D9-8A9C-138719AD3D9F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A1085-2914-41AF-92A7-5FFE93A8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6CF50-21C1-47FB-83ED-5415B396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83A74-1300-4425-BBDD-19763B90F6B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21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1B7DC3B-F2F7-4DBE-AD70-388A55F4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ED4FD-EBEA-41CB-829E-6A52C3BFD8C3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6DC169-0F56-4D4E-97B4-93DAC1EF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F05DEA-06FF-4468-8DC3-F755886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E2DA1-8930-451E-8A86-558AED5402F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1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53F6690-FF83-4044-8E88-9495ED7F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A39B7-0FB2-4135-84F0-E2B5F485EE37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4CD96E-F2DF-4210-AD42-5F74CD6F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917BA78-B9EE-4B5B-A2B1-80030EF9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E099E-1F4D-47EF-BAA8-1F0AB6AB353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3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111F591-8CE2-4C3C-BD05-89A8417B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F8ECE-DA9E-4EBF-8D04-1CD97D29A4BA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410D2C9-3F23-488A-8892-8FA1F5AD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83C11F-43B7-4DFE-9A2F-9377F7B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5129E-E937-4FCB-8FCD-2660FDFB6F2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EBF73E1-5963-4385-91EC-A9BAA403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D8DDA-802B-491F-B3AD-1F14A44BAB98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E5EB72-8474-4270-8641-27C81E2B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477DA56-C3AA-4718-B24E-06F204625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6D223-1A27-46A7-B31D-58BF4840DE1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7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2EB064-B16E-483F-BE2B-683C338F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E8940-8E60-4119-8F3C-A5C499821CD6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8B4035-2BD4-4E3E-8574-5DE988E3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BD9635-1CFC-4EB2-93FE-9B7901AA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2E7D45-C471-4989-8CA0-974D3042529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5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rtlCol="0">
            <a:normAutofit/>
          </a:bodyPr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5D50DC-00F6-4E8B-9299-40147A46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E943-F6C3-4BEB-980E-084A9B8248E5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A8FF27-7D21-46AF-B439-9D01D27E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50D6F03-2C24-49BB-97F3-DC178A9C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949C6-3A61-4749-B28A-9843B5EB457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8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9D238-4012-4935-8E36-1042E580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36C2A-D170-4523-9C38-15730725B9A7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F0DC-C1FE-46F1-A82E-9F98E513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9EDC5-DB74-421A-A213-1B50DFA3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6FC15-0595-4299-82C4-10B458FBF8D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FE54-832D-48A6-B93B-5E7DCF8E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E5E8C-1133-44EC-8B26-86FF7B867A5E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DE42-F5E8-4673-9D10-92B4A85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164E9-6437-4FC7-A08A-1BAB34C5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99B5F-06A8-4940-B3E8-B43D9454D37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40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C8652-325A-45E9-A276-8457963D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019" y="2299382"/>
            <a:ext cx="27945251" cy="835030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589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C431D96-A96F-42E5-AA9A-35611355E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27263" y="2300288"/>
            <a:ext cx="27944762" cy="835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58A737B-E9CF-4868-A3B5-75024E605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27263" y="11499850"/>
            <a:ext cx="27944762" cy="2741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Editar estilos de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021F1-C3BE-4BEE-A2AD-BFED95E6A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27263" y="40039925"/>
            <a:ext cx="7289800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425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B807FEB-3410-4C7D-A4EE-56140F1221CC}" type="datetimeFigureOut">
              <a:rPr lang="en-US"/>
              <a:pPr>
                <a:defRPr/>
              </a:pPr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90078-A19B-412F-B077-34B6E1D1D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31500" y="40039925"/>
            <a:ext cx="10936288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425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BEBF5-8272-4258-92F4-6E53CBE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82225" y="40039925"/>
            <a:ext cx="7289800" cy="2300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425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64C58A-0A6D-4D7D-8360-41382E780BB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2pPr>
      <a:lvl3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3pPr>
      <a:lvl4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4pPr>
      <a:lvl5pPr algn="l" defTabSz="32385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3238500" rtl="0" fontAlgn="base">
        <a:lnSpc>
          <a:spcPct val="90000"/>
        </a:lnSpc>
        <a:spcBef>
          <a:spcPct val="0"/>
        </a:spcBef>
        <a:spcAft>
          <a:spcPct val="0"/>
        </a:spcAft>
        <a:defRPr sz="155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809625" indent="-809625" algn="l" defTabSz="3238500" rtl="0" eaLnBrk="0" fontAlgn="base" hangingPunct="0">
        <a:lnSpc>
          <a:spcPct val="90000"/>
        </a:lnSpc>
        <a:spcBef>
          <a:spcPts val="3538"/>
        </a:spcBef>
        <a:spcAft>
          <a:spcPct val="0"/>
        </a:spcAft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1pPr>
      <a:lvl2pPr marL="2428875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049713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3pPr>
      <a:lvl4pPr marL="5668963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7288213" indent="-809625" algn="l" defTabSz="3238500" rtl="0" eaLnBrk="0" fontAlgn="base" hangingPunct="0">
        <a:lnSpc>
          <a:spcPct val="90000"/>
        </a:lnSpc>
        <a:spcBef>
          <a:spcPts val="1775"/>
        </a:spcBef>
        <a:spcAft>
          <a:spcPct val="0"/>
        </a:spcAft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hyperlink" Target="mailto:xxxx@e-mail.com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DA7E7D-6898-427B-A153-0DE0D040C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1752" y="9279"/>
            <a:ext cx="13605689" cy="5440903"/>
          </a:xfrm>
          <a:prstGeom prst="rect">
            <a:avLst/>
          </a:prstGeom>
        </p:spPr>
      </p:pic>
      <p:pic>
        <p:nvPicPr>
          <p:cNvPr id="4098" name="Imagem 18">
            <a:extLst>
              <a:ext uri="{FF2B5EF4-FFF2-40B4-BE49-F238E27FC236}">
                <a16:creationId xmlns:a16="http://schemas.microsoft.com/office/drawing/2014/main" id="{BD089B73-9F30-4DE0-9562-FD97B7341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09" r="82462" b="34370"/>
          <a:stretch>
            <a:fillRect/>
          </a:stretch>
        </p:blipFill>
        <p:spPr bwMode="auto">
          <a:xfrm>
            <a:off x="13573938" y="0"/>
            <a:ext cx="18825349" cy="480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Fluxograma: Processo Alternativo 20">
            <a:extLst>
              <a:ext uri="{FF2B5EF4-FFF2-40B4-BE49-F238E27FC236}">
                <a16:creationId xmlns:a16="http://schemas.microsoft.com/office/drawing/2014/main" id="{626986EE-4119-4B3E-990A-CB0B1DBBF6AB}"/>
              </a:ext>
            </a:extLst>
          </p:cNvPr>
          <p:cNvSpPr/>
          <p:nvPr/>
        </p:nvSpPr>
        <p:spPr>
          <a:xfrm>
            <a:off x="13823950" y="1276350"/>
            <a:ext cx="17497425" cy="1601788"/>
          </a:xfrm>
          <a:prstGeom prst="flowChartAlternateProcess">
            <a:avLst/>
          </a:prstGeom>
          <a:solidFill>
            <a:srgbClr val="C600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>
              <a:solidFill>
                <a:srgbClr val="C50022"/>
              </a:solidFill>
            </a:endParaRPr>
          </a:p>
        </p:txBody>
      </p:sp>
      <p:sp>
        <p:nvSpPr>
          <p:cNvPr id="4100" name="Text Box 5">
            <a:extLst>
              <a:ext uri="{FF2B5EF4-FFF2-40B4-BE49-F238E27FC236}">
                <a16:creationId xmlns:a16="http://schemas.microsoft.com/office/drawing/2014/main" id="{7D8BCB61-E65D-476A-AE8F-474165276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687" y="14509478"/>
            <a:ext cx="13841413" cy="8896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endParaRPr lang="pt-BR" sz="4400" b="1" dirty="0"/>
          </a:p>
          <a:p>
            <a:r>
              <a:rPr lang="pt-BR" sz="4400" b="1" dirty="0"/>
              <a:t>Arquitetura modular distribuída em camadas:</a:t>
            </a:r>
            <a:endParaRPr lang="pt-BR" sz="4400" dirty="0"/>
          </a:p>
          <a:p>
            <a:r>
              <a:rPr lang="pt-BR" sz="4400" b="1" dirty="0"/>
              <a:t>Camada Física: sensores e atuadores no veículo</a:t>
            </a:r>
          </a:p>
          <a:p>
            <a:r>
              <a:rPr lang="pt-BR" sz="4400" b="1" dirty="0"/>
              <a:t> (ESP32, RFID).</a:t>
            </a:r>
            <a:endParaRPr lang="pt-BR" sz="4400" dirty="0"/>
          </a:p>
          <a:p>
            <a:r>
              <a:rPr lang="pt-BR" sz="4400" b="1" dirty="0"/>
              <a:t>Comunicação: mensageria assíncrona via MQTT.</a:t>
            </a:r>
            <a:endParaRPr lang="pt-BR" sz="4400" dirty="0"/>
          </a:p>
          <a:p>
            <a:r>
              <a:rPr lang="pt-BR" sz="4400" b="1" dirty="0"/>
              <a:t>Nuvem: AWS IOT Core como broker central.</a:t>
            </a:r>
            <a:endParaRPr lang="pt-BR" sz="4400" dirty="0"/>
          </a:p>
          <a:p>
            <a:r>
              <a:rPr lang="pt-BR" sz="4400" b="1" dirty="0" err="1"/>
              <a:t>Backend</a:t>
            </a:r>
            <a:r>
              <a:rPr lang="pt-BR" sz="4400" b="1" dirty="0"/>
              <a:t>: C# / .NET Core 8 para regras de negócio.</a:t>
            </a:r>
            <a:endParaRPr lang="pt-BR" sz="4400" dirty="0"/>
          </a:p>
          <a:p>
            <a:r>
              <a:rPr lang="pt-BR" sz="4400" b="1" dirty="0"/>
              <a:t>Banco de Dados: PostgreSQL para persistência.</a:t>
            </a:r>
            <a:endParaRPr lang="pt-BR" sz="4400" dirty="0"/>
          </a:p>
          <a:p>
            <a:r>
              <a:rPr lang="pt-BR" sz="4400" b="1" dirty="0"/>
              <a:t>Aplicações: </a:t>
            </a:r>
            <a:r>
              <a:rPr lang="pt-BR" sz="4400" b="1" dirty="0" err="1"/>
              <a:t>React</a:t>
            </a:r>
            <a:r>
              <a:rPr lang="pt-BR" sz="4400" b="1" dirty="0"/>
              <a:t> + Expo para visualização em tempo</a:t>
            </a:r>
          </a:p>
          <a:p>
            <a:r>
              <a:rPr lang="pt-BR" sz="4400" b="1" dirty="0"/>
              <a:t> real.</a:t>
            </a:r>
            <a:endParaRPr lang="pt-BR" sz="4400" dirty="0"/>
          </a:p>
          <a:p>
            <a:pPr algn="just"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4101" name="Text Box 6">
            <a:extLst>
              <a:ext uri="{FF2B5EF4-FFF2-40B4-BE49-F238E27FC236}">
                <a16:creationId xmlns:a16="http://schemas.microsoft.com/office/drawing/2014/main" id="{9F2EA609-A012-498F-A919-6CF4120A1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79437" y="35107591"/>
            <a:ext cx="14492287" cy="3295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sz="3200" b="1" dirty="0"/>
              <a:t>ATZORI, Luigi. The Internet </a:t>
            </a:r>
            <a:r>
              <a:rPr lang="pt-BR" sz="3200" b="1" dirty="0" err="1"/>
              <a:t>of</a:t>
            </a:r>
            <a:r>
              <a:rPr lang="pt-BR" sz="3200" b="1" dirty="0"/>
              <a:t> </a:t>
            </a:r>
            <a:r>
              <a:rPr lang="pt-BR" sz="3200" b="1" dirty="0" err="1"/>
              <a:t>Things</a:t>
            </a:r>
            <a:r>
              <a:rPr lang="pt-BR" sz="3200" b="1" dirty="0"/>
              <a:t>: A </a:t>
            </a:r>
            <a:r>
              <a:rPr lang="pt-BR" sz="3200" b="1" dirty="0" err="1"/>
              <a:t>survey</a:t>
            </a:r>
            <a:r>
              <a:rPr lang="pt-BR" sz="3200" b="1" dirty="0"/>
              <a:t>. Computer Networks, 2010. TANENBAUM, Andrew S.; WETHERALL, David J. Redes de Computadores.</a:t>
            </a:r>
          </a:p>
          <a:p>
            <a:pPr eaLnBrk="1" hangingPunct="1"/>
            <a:r>
              <a:rPr lang="pt-BR" sz="3200" b="1" dirty="0"/>
              <a:t> Pearson, 2011. AMAZON WEB SERVICES. AWS </a:t>
            </a:r>
            <a:r>
              <a:rPr lang="pt-BR" sz="3200" b="1" dirty="0" err="1"/>
              <a:t>IoT</a:t>
            </a:r>
            <a:r>
              <a:rPr lang="pt-BR" sz="3200" b="1" dirty="0"/>
              <a:t> Core – </a:t>
            </a:r>
            <a:r>
              <a:rPr lang="pt-BR" sz="3200" b="1" dirty="0" err="1"/>
              <a:t>Developer</a:t>
            </a:r>
            <a:r>
              <a:rPr lang="pt-BR" sz="3200" b="1" dirty="0"/>
              <a:t> </a:t>
            </a:r>
            <a:r>
              <a:rPr lang="pt-BR" sz="3200" b="1" dirty="0" err="1"/>
              <a:t>Guide</a:t>
            </a:r>
            <a:r>
              <a:rPr lang="pt-BR" sz="3200" b="1" dirty="0"/>
              <a:t>. </a:t>
            </a:r>
          </a:p>
          <a:p>
            <a:pPr eaLnBrk="1" hangingPunct="1"/>
            <a:r>
              <a:rPr lang="pt-BR" sz="3200" b="1" dirty="0"/>
              <a:t>2026. ISO/IEC 30141: Internet </a:t>
            </a:r>
            <a:r>
              <a:rPr lang="pt-BR" sz="3200" b="1" dirty="0" err="1"/>
              <a:t>of</a:t>
            </a:r>
            <a:r>
              <a:rPr lang="pt-BR" sz="3200" b="1" dirty="0"/>
              <a:t> </a:t>
            </a:r>
            <a:r>
              <a:rPr lang="pt-BR" sz="3200" b="1" dirty="0" err="1"/>
              <a:t>Things</a:t>
            </a:r>
            <a:r>
              <a:rPr lang="pt-BR" sz="3200" b="1" dirty="0"/>
              <a:t> (</a:t>
            </a:r>
            <a:r>
              <a:rPr lang="pt-BR" sz="3200" b="1" dirty="0" err="1"/>
              <a:t>IoT</a:t>
            </a:r>
            <a:r>
              <a:rPr lang="pt-BR" sz="3200" b="1" dirty="0"/>
              <a:t>) </a:t>
            </a:r>
            <a:r>
              <a:rPr lang="pt-BR" sz="3200" b="1" dirty="0" err="1"/>
              <a:t>Reference</a:t>
            </a:r>
            <a:r>
              <a:rPr lang="pt-BR" sz="3200" b="1" dirty="0"/>
              <a:t> </a:t>
            </a:r>
            <a:r>
              <a:rPr lang="pt-BR" sz="3200" b="1" dirty="0" err="1"/>
              <a:t>Architecture</a:t>
            </a:r>
            <a:r>
              <a:rPr lang="pt-BR" sz="3200" b="1" dirty="0"/>
              <a:t>. 2018. </a:t>
            </a:r>
            <a:endParaRPr lang="pt-BR" altLang="pt-BR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08" name="Text Box 13">
            <a:extLst>
              <a:ext uri="{FF2B5EF4-FFF2-40B4-BE49-F238E27FC236}">
                <a16:creationId xmlns:a16="http://schemas.microsoft.com/office/drawing/2014/main" id="{09D267A5-0E1E-4F99-8441-6FB4E219D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761" y="6353826"/>
            <a:ext cx="13841413" cy="8896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sz="4400" b="1" dirty="0"/>
          </a:p>
          <a:p>
            <a:pPr eaLnBrk="1" hangingPunct="1"/>
            <a:r>
              <a:rPr lang="pt-BR" sz="4400" b="1" dirty="0"/>
              <a:t>A Indústria 4.0 impulsiona a integração entre o </a:t>
            </a:r>
          </a:p>
          <a:p>
            <a:pPr eaLnBrk="1" hangingPunct="1"/>
            <a:r>
              <a:rPr lang="pt-BR" sz="4400" b="1" dirty="0"/>
              <a:t>físico e o digital. No setor automotivo, o pós-compra</a:t>
            </a:r>
          </a:p>
          <a:p>
            <a:pPr eaLnBrk="1" hangingPunct="1"/>
            <a:r>
              <a:rPr lang="pt-BR" sz="4400" b="1" dirty="0"/>
              <a:t> ainda sofre com a falta de comunicação eficiente</a:t>
            </a:r>
          </a:p>
          <a:p>
            <a:pPr eaLnBrk="1" hangingPunct="1"/>
            <a:r>
              <a:rPr lang="pt-BR" sz="4400" b="1" dirty="0"/>
              <a:t> entre cliente e serviços. O Toyota Tech propõe </a:t>
            </a:r>
          </a:p>
          <a:p>
            <a:pPr eaLnBrk="1" hangingPunct="1"/>
            <a:r>
              <a:rPr lang="pt-BR" sz="4400" b="1" dirty="0"/>
              <a:t>centralizar informações críticas do veículo em tempo </a:t>
            </a:r>
          </a:p>
          <a:p>
            <a:pPr eaLnBrk="1" hangingPunct="1"/>
            <a:r>
              <a:rPr lang="pt-BR" sz="4400" b="1" dirty="0"/>
              <a:t>real,</a:t>
            </a:r>
          </a:p>
          <a:p>
            <a:pPr eaLnBrk="1" hangingPunct="1"/>
            <a:r>
              <a:rPr lang="pt-BR" sz="4400" b="1" dirty="0"/>
              <a:t>conectando o usuário à fábrica e aos serviços via IOT </a:t>
            </a:r>
          </a:p>
          <a:p>
            <a:pPr eaLnBrk="1" hangingPunct="1"/>
            <a:r>
              <a:rPr lang="pt-BR" sz="4400" b="1" dirty="0"/>
              <a:t>e nuvem AWS.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algn="just"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4109" name="Text Box 14">
            <a:extLst>
              <a:ext uri="{FF2B5EF4-FFF2-40B4-BE49-F238E27FC236}">
                <a16:creationId xmlns:a16="http://schemas.microsoft.com/office/drawing/2014/main" id="{5B92E1EA-5EE6-4EA3-B6E0-7042A80F7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762" y="34706714"/>
            <a:ext cx="13841412" cy="686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pt-BR" sz="4400" dirty="0"/>
          </a:p>
          <a:p>
            <a:r>
              <a:rPr lang="pt-BR" sz="4400" b="1" dirty="0"/>
              <a:t>Implementar telemetria via protocolo MQTT.</a:t>
            </a:r>
            <a:endParaRPr lang="pt-BR" sz="4400" dirty="0"/>
          </a:p>
          <a:p>
            <a:r>
              <a:rPr lang="pt-BR" sz="4400" b="1" dirty="0"/>
              <a:t>Integrar dispositivos Edge (ESP32) à AWS </a:t>
            </a:r>
            <a:r>
              <a:rPr lang="pt-BR" sz="4400" b="1" dirty="0" err="1"/>
              <a:t>IoT</a:t>
            </a:r>
            <a:r>
              <a:rPr lang="pt-BR" sz="4400" b="1" dirty="0"/>
              <a:t> </a:t>
            </a:r>
          </a:p>
          <a:p>
            <a:r>
              <a:rPr lang="pt-BR" sz="4400" b="1" dirty="0"/>
              <a:t>Core.</a:t>
            </a:r>
            <a:endParaRPr lang="pt-BR" sz="4400" dirty="0"/>
          </a:p>
          <a:p>
            <a:r>
              <a:rPr lang="pt-BR" sz="4400" b="1" dirty="0"/>
              <a:t>Garantir visibilidade via App Mobile e Web.</a:t>
            </a:r>
            <a:endParaRPr lang="pt-BR" sz="4400" dirty="0"/>
          </a:p>
          <a:p>
            <a:r>
              <a:rPr lang="pt-BR" sz="4400" b="1" dirty="0"/>
              <a:t>Aplicar Integração Vertical e Horizontal (IVH)</a:t>
            </a:r>
          </a:p>
          <a:p>
            <a:r>
              <a:rPr lang="pt-BR" sz="4400" b="1" dirty="0"/>
              <a:t> para comunicação contínua entre camada</a:t>
            </a:r>
            <a:endParaRPr lang="pt-BR" sz="4400" dirty="0"/>
          </a:p>
          <a:p>
            <a:pPr eaLnBrk="1" hangingPunct="1"/>
            <a:endParaRPr lang="pt-BR" altLang="pt-BR" sz="4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algn="just"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10" name="Text Box 15">
            <a:extLst>
              <a:ext uri="{FF2B5EF4-FFF2-40B4-BE49-F238E27FC236}">
                <a16:creationId xmlns:a16="http://schemas.microsoft.com/office/drawing/2014/main" id="{31B5F289-C3FD-4171-BB4B-8A9742377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87863" y="6926263"/>
            <a:ext cx="13841412" cy="686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sz="4400" b="1" dirty="0"/>
              <a:t>A arquitetura </a:t>
            </a:r>
            <a:r>
              <a:rPr lang="pt-BR" sz="4400" b="1" dirty="0" err="1"/>
              <a:t>IoT</a:t>
            </a:r>
            <a:r>
              <a:rPr lang="pt-BR" sz="4400" b="1" dirty="0"/>
              <a:t> conecta o ambiente físico ao digital, permitindo coleta e transmissão de dados em tempo </a:t>
            </a:r>
          </a:p>
          <a:p>
            <a:pPr eaLnBrk="1" hangingPunct="1"/>
            <a:r>
              <a:rPr lang="pt-BR" sz="4400" b="1" dirty="0"/>
              <a:t>real. O protocolo MQTT garante leveza e eficiência na comunicação. A Integração Vertical conecta o veículo</a:t>
            </a:r>
          </a:p>
          <a:p>
            <a:pPr eaLnBrk="1" hangingPunct="1"/>
            <a:r>
              <a:rPr lang="pt-BR" sz="4400" b="1" dirty="0"/>
              <a:t> à nuvem e ao app; a Horizontal garante</a:t>
            </a:r>
          </a:p>
          <a:p>
            <a:pPr eaLnBrk="1" hangingPunct="1"/>
            <a:r>
              <a:rPr lang="pt-BR" sz="4400" b="1" dirty="0"/>
              <a:t> interoperabilidade entre </a:t>
            </a:r>
            <a:r>
              <a:rPr lang="pt-BR" sz="4400" b="1" dirty="0" err="1"/>
              <a:t>backend</a:t>
            </a:r>
            <a:r>
              <a:rPr lang="pt-BR" sz="4400" b="1" dirty="0"/>
              <a:t>, banco de dados e serviços. Tecnologias aplicadas: AWS </a:t>
            </a:r>
            <a:r>
              <a:rPr lang="pt-BR" sz="4400" b="1" dirty="0" err="1"/>
              <a:t>IoT</a:t>
            </a:r>
            <a:r>
              <a:rPr lang="pt-BR" sz="4400" b="1" dirty="0"/>
              <a:t> Core, .NET, </a:t>
            </a:r>
          </a:p>
          <a:p>
            <a:pPr eaLnBrk="1" hangingPunct="1"/>
            <a:r>
              <a:rPr lang="pt-BR" sz="4400" b="1" dirty="0" err="1"/>
              <a:t>React</a:t>
            </a:r>
            <a:r>
              <a:rPr lang="pt-BR" sz="4400" b="1" dirty="0"/>
              <a:t>, PostgreSQL, Expo, ESP32.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11" name="Text Box 16">
            <a:extLst>
              <a:ext uri="{FF2B5EF4-FFF2-40B4-BE49-F238E27FC236}">
                <a16:creationId xmlns:a16="http://schemas.microsoft.com/office/drawing/2014/main" id="{F3116EDB-DC22-464F-9C14-361F44224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2704" y="17128368"/>
            <a:ext cx="13841413" cy="5511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eaLnBrk="1" hangingPunct="1"/>
            <a:r>
              <a:rPr lang="pt-BR" sz="4400" b="1" dirty="0"/>
              <a:t>O Toyota Tech oferece uma interface intuitiva e</a:t>
            </a:r>
          </a:p>
          <a:p>
            <a:pPr eaLnBrk="1" hangingPunct="1"/>
            <a:r>
              <a:rPr lang="pt-BR" sz="4400" b="1" dirty="0"/>
              <a:t> responsiva. Login centralizado via Toyota ID. Gestão completa do veículo e documentos. Status de produção</a:t>
            </a:r>
          </a:p>
          <a:p>
            <a:pPr eaLnBrk="1" hangingPunct="1"/>
            <a:r>
              <a:rPr lang="pt-BR" sz="4400" b="1" dirty="0"/>
              <a:t> e entrega em tempo real. Notificações automáticas de recall e manutenção. A arquitetura garante</a:t>
            </a:r>
          </a:p>
          <a:p>
            <a:pPr eaLnBrk="1" hangingPunct="1"/>
            <a:r>
              <a:rPr lang="pt-BR" sz="4400" b="1" dirty="0"/>
              <a:t> escalabilidade, segurança e integração contínua entre cliente e fabricante</a:t>
            </a:r>
            <a:endParaRPr lang="pt-BR" altLang="pt-BR" sz="4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12" name="Text Box 3">
            <a:extLst>
              <a:ext uri="{FF2B5EF4-FFF2-40B4-BE49-F238E27FC236}">
                <a16:creationId xmlns:a16="http://schemas.microsoft.com/office/drawing/2014/main" id="{B97AB636-4372-461B-A693-0566650C1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1046" y="3329044"/>
            <a:ext cx="2016283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ts val="1750"/>
              </a:spcBef>
            </a:pPr>
            <a:r>
              <a:rPr lang="pt-BR" altLang="pt-BR" sz="32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pt-BR" altLang="pt-B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pt-BR" altLang="pt-BR" sz="40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Gizela ; Matheus ; Juan;  </a:t>
            </a:r>
            <a:r>
              <a:rPr lang="pt-BR" altLang="pt-BR" sz="4000" b="1" baseline="30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Julio</a:t>
            </a:r>
            <a:r>
              <a:rPr lang="pt-BR" altLang="pt-BR" sz="40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; Murilo ; Pedro</a:t>
            </a:r>
            <a:r>
              <a:rPr lang="pt-BR" altLang="pt-BR" sz="32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d BT" pitchFamily="32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C55E4C-A0A1-4F2B-A030-6E1821B9ADB9}"/>
              </a:ext>
            </a:extLst>
          </p:cNvPr>
          <p:cNvSpPr txBox="1"/>
          <p:nvPr/>
        </p:nvSpPr>
        <p:spPr>
          <a:xfrm>
            <a:off x="14471452" y="1687366"/>
            <a:ext cx="16489832" cy="1015663"/>
          </a:xfrm>
          <a:prstGeom prst="rect">
            <a:avLst/>
          </a:prstGeom>
          <a:noFill/>
          <a:effectLst>
            <a:softEdge rad="0"/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0" b="1" dirty="0">
                <a:solidFill>
                  <a:schemeClr val="bg1"/>
                </a:solidFill>
                <a:latin typeface="+mn-lt"/>
              </a:rPr>
              <a:t>TOYOTA TECH 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5C1C632-43BC-46B8-A575-C185DACDEBB7}"/>
              </a:ext>
            </a:extLst>
          </p:cNvPr>
          <p:cNvSpPr txBox="1"/>
          <p:nvPr/>
        </p:nvSpPr>
        <p:spPr>
          <a:xfrm>
            <a:off x="-23253" y="41873312"/>
            <a:ext cx="32422541" cy="1323439"/>
          </a:xfrm>
          <a:prstGeom prst="rect">
            <a:avLst/>
          </a:prstGeom>
          <a:solidFill>
            <a:srgbClr val="C60022"/>
          </a:solidFill>
          <a:effectLst>
            <a:softEdge rad="0"/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solidFill>
                <a:schemeClr val="bg1"/>
              </a:solidFill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chemeClr val="bg1"/>
                </a:solidFill>
                <a:latin typeface="+mn-lt"/>
              </a:rPr>
              <a:t>1 Titulação acadêmica, instituição, Campus, contato: xxxx@e-mail.com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solidFill>
                  <a:schemeClr val="bg1"/>
                </a:solidFill>
                <a:latin typeface="+mn-lt"/>
              </a:rPr>
              <a:t>2 Titulação acadêmica, instituição, Campus, bolsista (se for, informar o tipo de bolsa), contato: </a:t>
            </a:r>
            <a:r>
              <a:rPr lang="pt-BR" sz="2000" b="1" dirty="0">
                <a:solidFill>
                  <a:schemeClr val="bg1"/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xxxx@e-mail.com</a:t>
            </a:r>
            <a:endParaRPr lang="pt-BR" sz="2000" b="1" dirty="0">
              <a:solidFill>
                <a:schemeClr val="bg1"/>
              </a:solidFill>
              <a:latin typeface="+mn-lt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AE390C-8051-4405-B552-CC0F0DFAC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31" y="0"/>
            <a:ext cx="323992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B33F713-D18B-40BA-8DBD-CAF1D16C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23992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2B5D6B-2D01-4770-882E-9071ED37F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23992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3C16ABA-FECA-4811-A702-010ED605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323992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17A8DBE-F7EA-4B27-A3DB-A4DA8B9B8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323992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3" name="AutoShape 9" descr="Mockup de app ToyotaTech em 3 celulares">
            <a:extLst>
              <a:ext uri="{FF2B5EF4-FFF2-40B4-BE49-F238E27FC236}">
                <a16:creationId xmlns:a16="http://schemas.microsoft.com/office/drawing/2014/main" id="{2DE28C9F-6509-4A90-A844-DEC4C53DC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791576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60532CF-3D20-42C4-AAF6-5DD1A5CCB9CB}"/>
              </a:ext>
            </a:extLst>
          </p:cNvPr>
          <p:cNvSpPr/>
          <p:nvPr/>
        </p:nvSpPr>
        <p:spPr>
          <a:xfrm>
            <a:off x="1251338" y="6330131"/>
            <a:ext cx="11888707" cy="145064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4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INTRODUÇÃO</a:t>
            </a:r>
          </a:p>
          <a:p>
            <a:pPr algn="ctr"/>
            <a:endParaRPr lang="pt-BR" dirty="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D06F037-C7E2-4F5D-BB5B-EB3F76B0BBE6}"/>
              </a:ext>
            </a:extLst>
          </p:cNvPr>
          <p:cNvSpPr/>
          <p:nvPr/>
        </p:nvSpPr>
        <p:spPr>
          <a:xfrm>
            <a:off x="1061197" y="33314698"/>
            <a:ext cx="11674104" cy="145064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4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OBJETIVOS</a:t>
            </a:r>
          </a:p>
          <a:p>
            <a:pPr algn="ctr"/>
            <a:endParaRPr lang="pt-BR" dirty="0"/>
          </a:p>
        </p:txBody>
      </p:sp>
      <p:sp>
        <p:nvSpPr>
          <p:cNvPr id="33" name="AutoShape 17" descr="blob:https://gemini.google.com/8bb58510-3f11-4c30-9efe-9c1e77836f07">
            <a:extLst>
              <a:ext uri="{FF2B5EF4-FFF2-40B4-BE49-F238E27FC236}">
                <a16:creationId xmlns:a16="http://schemas.microsoft.com/office/drawing/2014/main" id="{F3624E76-D7AD-46FC-B1AD-B6D18E8F2D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46450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4" name="AutoShape 19" descr="blob:https://gemini.google.com/8bb58510-3f11-4c30-9efe-9c1e77836f07">
            <a:extLst>
              <a:ext uri="{FF2B5EF4-FFF2-40B4-BE49-F238E27FC236}">
                <a16:creationId xmlns:a16="http://schemas.microsoft.com/office/drawing/2014/main" id="{BDB8AED0-878A-4078-890B-76317F9CC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198850" y="21599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6" name="AutoShape 23" descr="blob:https://gemini.google.com/8bb58510-3f11-4c30-9efe-9c1e77836f07">
            <a:extLst>
              <a:ext uri="{FF2B5EF4-FFF2-40B4-BE49-F238E27FC236}">
                <a16:creationId xmlns:a16="http://schemas.microsoft.com/office/drawing/2014/main" id="{85221DCC-07AC-47D0-9E33-84F3B95042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51250" y="217519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CA4CF6F9-B459-4223-99CF-AAFF1EA618DA}"/>
              </a:ext>
            </a:extLst>
          </p:cNvPr>
          <p:cNvSpPr/>
          <p:nvPr/>
        </p:nvSpPr>
        <p:spPr>
          <a:xfrm>
            <a:off x="17239294" y="6249297"/>
            <a:ext cx="11888707" cy="145064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pt-BR" sz="4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algn="ctr"/>
            <a:r>
              <a:rPr lang="pt-BR" altLang="pt-BR" sz="4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FUNDAMENTAÇÃO TEÓRICA</a:t>
            </a:r>
          </a:p>
          <a:p>
            <a:pPr algn="ctr"/>
            <a:endParaRPr lang="pt-BR" altLang="pt-BR" sz="4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algn="ctr"/>
            <a:endParaRPr lang="pt-BR" dirty="0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73046E1C-4B46-499B-83F2-BF75B0E349B4}"/>
              </a:ext>
            </a:extLst>
          </p:cNvPr>
          <p:cNvSpPr/>
          <p:nvPr/>
        </p:nvSpPr>
        <p:spPr>
          <a:xfrm>
            <a:off x="17239294" y="15411221"/>
            <a:ext cx="11888707" cy="145064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pt-BR" sz="4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algn="ctr"/>
            <a:r>
              <a:rPr lang="pt-BR" altLang="pt-BR" sz="4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DISCUSSÃO E RESULTADOS</a:t>
            </a:r>
          </a:p>
          <a:p>
            <a:pPr algn="ctr"/>
            <a:endParaRPr lang="pt-BR" altLang="pt-BR" sz="4400" b="1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  <a:p>
            <a:pPr algn="ctr"/>
            <a:endParaRPr lang="pt-BR" dirty="0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E373461-7F0E-46F4-AAEE-693A6F5BD888}"/>
              </a:ext>
            </a:extLst>
          </p:cNvPr>
          <p:cNvSpPr/>
          <p:nvPr/>
        </p:nvSpPr>
        <p:spPr>
          <a:xfrm>
            <a:off x="17571735" y="33913248"/>
            <a:ext cx="11888707" cy="145064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4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REFERÊNCIAS</a:t>
            </a:r>
          </a:p>
          <a:p>
            <a:pPr algn="ctr"/>
            <a:endParaRPr lang="pt-BR" dirty="0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0F4BAA20-E567-4DA1-9CF1-216098DE8C95}"/>
              </a:ext>
            </a:extLst>
          </p:cNvPr>
          <p:cNvSpPr/>
          <p:nvPr/>
        </p:nvSpPr>
        <p:spPr>
          <a:xfrm>
            <a:off x="1251338" y="14525429"/>
            <a:ext cx="11888707" cy="145064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BR" sz="44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METODOLOGIA</a:t>
            </a:r>
          </a:p>
          <a:p>
            <a:pPr algn="ctr"/>
            <a:endParaRPr lang="pt-BR" dirty="0"/>
          </a:p>
        </p:txBody>
      </p:sp>
      <p:sp>
        <p:nvSpPr>
          <p:cNvPr id="41" name="AutoShape 27" descr=", gerada com IA">
            <a:extLst>
              <a:ext uri="{FF2B5EF4-FFF2-40B4-BE49-F238E27FC236}">
                <a16:creationId xmlns:a16="http://schemas.microsoft.com/office/drawing/2014/main" id="{F4C0ED10-B39F-4792-AB00-6FFE2B9551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03650" y="21904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55" name="Picture 31" descr="App telas mobile">
            <a:extLst>
              <a:ext uri="{FF2B5EF4-FFF2-40B4-BE49-F238E27FC236}">
                <a16:creationId xmlns:a16="http://schemas.microsoft.com/office/drawing/2014/main" id="{86DFC0E7-39C4-499B-A42C-5874FCB61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7014" y="23275448"/>
            <a:ext cx="13707104" cy="1003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2" descr="blob:https://web.whatsapp.com/8966aebd-c0bf-4f48-9d10-bb1a145dfab5">
            <a:extLst>
              <a:ext uri="{FF2B5EF4-FFF2-40B4-BE49-F238E27FC236}">
                <a16:creationId xmlns:a16="http://schemas.microsoft.com/office/drawing/2014/main" id="{BBA6847E-F147-4357-88FC-F6B108CA8A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9075164" y="228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2" descr=", gerada com IA">
            <a:extLst>
              <a:ext uri="{FF2B5EF4-FFF2-40B4-BE49-F238E27FC236}">
                <a16:creationId xmlns:a16="http://schemas.microsoft.com/office/drawing/2014/main" id="{8ACCE849-F3DD-4597-B567-650CCC9759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656050" y="22056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4" descr=", gerada com IA">
            <a:extLst>
              <a:ext uri="{FF2B5EF4-FFF2-40B4-BE49-F238E27FC236}">
                <a16:creationId xmlns:a16="http://schemas.microsoft.com/office/drawing/2014/main" id="{3EA7DC04-0402-46E8-ABC8-0537280379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808450" y="22209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2" name="AutoShape 6" descr=", gerada com IA">
            <a:extLst>
              <a:ext uri="{FF2B5EF4-FFF2-40B4-BE49-F238E27FC236}">
                <a16:creationId xmlns:a16="http://schemas.microsoft.com/office/drawing/2014/main" id="{93ED7EF0-5CB0-4390-8DDB-C2E839D25599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 flipV="1">
            <a:off x="8854828" y="22666325"/>
            <a:ext cx="8106022" cy="8106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5" name="AutoShape 10" descr="blob:https://gemini.google.com/6aa18099-4f51-4faa-bcb1-8c131f168012">
            <a:extLst>
              <a:ext uri="{FF2B5EF4-FFF2-40B4-BE49-F238E27FC236}">
                <a16:creationId xmlns:a16="http://schemas.microsoft.com/office/drawing/2014/main" id="{7740C18A-255A-49E3-9A28-0AD2DAE6B9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78964" y="253934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7" name="AutoShape 14" descr="blob:https://gemini.google.com/6aa18099-4f51-4faa-bcb1-8c131f168012">
            <a:extLst>
              <a:ext uri="{FF2B5EF4-FFF2-40B4-BE49-F238E27FC236}">
                <a16:creationId xmlns:a16="http://schemas.microsoft.com/office/drawing/2014/main" id="{BB0C201A-B2D8-4F1E-AE53-405849AAA1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960850" y="22361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681CB255-5F72-4B9A-AF4A-8609F4714A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32" y="23557669"/>
            <a:ext cx="13414589" cy="7566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1452</TotalTime>
  <Words>430</Words>
  <Application>Microsoft Office PowerPoint</Application>
  <PresentationFormat>Personalizar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Microsoft YaHei</vt:lpstr>
      <vt:lpstr>Arial</vt:lpstr>
      <vt:lpstr>Calibri</vt:lpstr>
      <vt:lpstr>Calibri Light</vt:lpstr>
      <vt:lpstr>Futura Md BT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Bianca Siqueira Martins Domingos</dc:creator>
  <cp:lastModifiedBy>Gizela ALVES</cp:lastModifiedBy>
  <cp:revision>114</cp:revision>
  <cp:lastPrinted>1601-01-01T00:00:00Z</cp:lastPrinted>
  <dcterms:created xsi:type="dcterms:W3CDTF">2006-09-28T21:01:08Z</dcterms:created>
  <dcterms:modified xsi:type="dcterms:W3CDTF">2026-06-09T23:39:58Z</dcterms:modified>
</cp:coreProperties>
</file>